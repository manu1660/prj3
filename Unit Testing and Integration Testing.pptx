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720" r:id="rId1"/>
  </p:sldMasterIdLst>
  <p:notesMasterIdLst>
    <p:notesMasterId r:id="rId2"/>
  </p:notesMasterIdLst>
  <p:sldIdLst>
    <p:sldId id="293" r:id="rId3"/>
    <p:sldId id="294" r:id="rId4"/>
    <p:sldId id="295" r:id="rId5"/>
    <p:sldId id="296" r:id="rId6"/>
    <p:sldId id="298" r:id="rId7"/>
    <p:sldId id="299" r:id="rId8"/>
    <p:sldId id="300" r:id="rId9"/>
    <p:sldId id="301" r:id="rId10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46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601D7A6E-4EEA-468F-9665-6C6466D854E5}" type="datetimeFigureOut">
              <a:rPr lang="en-US" smtClean="0"/>
              <a:t>13-May-20</a:t>
            </a:fld>
            <a:endParaRPr lang="en-US"/>
          </a:p>
        </p:txBody>
      </p:sp>
      <p:sp>
        <p:nvSpPr>
          <p:cNvPr id="1048647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64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5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F43B5910-7524-4F56-8039-BA0177E96925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89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E6B0D47-FB54-443C-AD6B-759970972830}" type="datetimeFigureOut">
              <a:rPr lang="en-US" smtClean="0"/>
              <a:t>13-May-20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5FF2822-60D4-4A17-9C7F-734646CEE3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E6B0D47-FB54-443C-AD6B-759970972830}" type="datetimeFigureOut">
              <a:rPr lang="en-US" smtClean="0"/>
              <a:t>13-May-20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5FF2822-60D4-4A17-9C7F-734646CEE3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18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E6B0D47-FB54-443C-AD6B-759970972830}" type="datetimeFigureOut">
              <a:rPr lang="en-US" smtClean="0"/>
              <a:t>13-May-20</a:t>
            </a:fld>
            <a:endParaRPr lang="en-US"/>
          </a:p>
        </p:txBody>
      </p:sp>
      <p:sp>
        <p:nvSpPr>
          <p:cNvPr id="10486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5FF2822-60D4-4A17-9C7F-734646CEE3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2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E6B0D47-FB54-443C-AD6B-759970972830}" type="datetimeFigureOut">
              <a:rPr lang="en-US" smtClean="0"/>
              <a:t>13-May-20</a:t>
            </a:fld>
            <a:endParaRPr lang="en-US"/>
          </a:p>
        </p:txBody>
      </p:sp>
      <p:sp>
        <p:nvSpPr>
          <p:cNvPr id="104862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5FF2822-60D4-4A17-9C7F-734646CEE3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29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0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2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E6B0D47-FB54-443C-AD6B-759970972830}" type="datetimeFigureOut">
              <a:rPr lang="en-US" smtClean="0"/>
              <a:t>13-May-20</a:t>
            </a:fld>
            <a:endParaRPr lang="en-US"/>
          </a:p>
        </p:txBody>
      </p:sp>
      <p:sp>
        <p:nvSpPr>
          <p:cNvPr id="104863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5FF2822-60D4-4A17-9C7F-734646CEE3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9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E6B0D47-FB54-443C-AD6B-759970972830}" type="datetimeFigureOut">
              <a:rPr lang="en-US" smtClean="0"/>
              <a:t>13-May-20</a:t>
            </a:fld>
            <a:endParaRPr lang="en-US"/>
          </a:p>
        </p:txBody>
      </p:sp>
      <p:sp>
        <p:nvSpPr>
          <p:cNvPr id="104859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5FF2822-60D4-4A17-9C7F-734646CEE3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E6B0D47-FB54-443C-AD6B-759970972830}" type="datetimeFigureOut">
              <a:rPr lang="en-US" smtClean="0"/>
              <a:t>13-May-20</a:t>
            </a:fld>
            <a:endParaRPr lang="en-US"/>
          </a:p>
        </p:txBody>
      </p:sp>
      <p:sp>
        <p:nvSpPr>
          <p:cNvPr id="104863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5FF2822-60D4-4A17-9C7F-734646CEE3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40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1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E6B0D47-FB54-443C-AD6B-759970972830}" type="datetimeFigureOut">
              <a:rPr lang="en-US" smtClean="0"/>
              <a:t>13-May-20</a:t>
            </a:fld>
            <a:endParaRPr lang="en-US"/>
          </a:p>
        </p:txBody>
      </p:sp>
      <p:sp>
        <p:nvSpPr>
          <p:cNvPr id="104864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5FF2822-60D4-4A17-9C7F-734646CEE3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07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0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0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E6B0D47-FB54-443C-AD6B-759970972830}" type="datetimeFigureOut">
              <a:rPr lang="en-US" smtClean="0"/>
              <a:t>13-May-20</a:t>
            </a:fld>
            <a:endParaRPr lang="en-US"/>
          </a:p>
        </p:txBody>
      </p:sp>
      <p:sp>
        <p:nvSpPr>
          <p:cNvPr id="10486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5FF2822-60D4-4A17-9C7F-734646CEE3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1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1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E6B0D47-FB54-443C-AD6B-759970972830}" type="datetimeFigureOut">
              <a:rPr lang="en-US" smtClean="0"/>
              <a:t>13-May-20</a:t>
            </a:fld>
            <a:endParaRPr lang="en-US"/>
          </a:p>
        </p:txBody>
      </p:sp>
      <p:sp>
        <p:nvSpPr>
          <p:cNvPr id="104861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5FF2822-60D4-4A17-9C7F-734646CEE3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60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0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E6B0D47-FB54-443C-AD6B-759970972830}" type="datetimeFigureOut">
              <a:rPr lang="en-US" smtClean="0"/>
              <a:t>13-May-20</a:t>
            </a:fld>
            <a:endParaRPr lang="en-US"/>
          </a:p>
        </p:txBody>
      </p:sp>
      <p:sp>
        <p:nvSpPr>
          <p:cNvPr id="104860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5FF2822-60D4-4A17-9C7F-734646CEE3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B0D47-FB54-443C-AD6B-759970972830}" type="datetimeFigureOut">
              <a:rPr lang="en-US" smtClean="0"/>
              <a:t>13-May-20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F2822-60D4-4A17-9C7F-734646CEE34E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99"/>
        </a:solidFill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/>
          <a:p>
            <a:r>
              <a:rPr dirty="0" lang="en-US">
                <a:solidFill>
                  <a:srgbClr val="002060"/>
                </a:solidFill>
                <a:latin typeface="Adobe Caslon Pro Bold" panose="0205070206050A020403" pitchFamily="18" charset="0"/>
              </a:rPr>
              <a:t>                            ASSIGNMENT</a:t>
            </a:r>
          </a:p>
        </p:txBody>
      </p:sp>
      <p:sp>
        <p:nvSpPr>
          <p:cNvPr id="1048587" name=""/>
          <p:cNvSpPr txBox="1"/>
          <p:nvPr/>
        </p:nvSpPr>
        <p:spPr>
          <a:xfrm>
            <a:off x="6181817" y="4565607"/>
            <a:ext cx="5171983" cy="13487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993300"/>
                </a:solidFill>
              </a:rPr>
              <a:t>S</a:t>
            </a:r>
            <a:r>
              <a:rPr sz="2800" lang="en-US">
                <a:solidFill>
                  <a:srgbClr val="993300"/>
                </a:solidFill>
              </a:rPr>
              <a:t>u</a:t>
            </a:r>
            <a:r>
              <a:rPr sz="2800" lang="en-US">
                <a:solidFill>
                  <a:srgbClr val="993300"/>
                </a:solidFill>
              </a:rPr>
              <a:t>b</a:t>
            </a:r>
            <a:r>
              <a:rPr sz="2800" lang="en-US">
                <a:solidFill>
                  <a:srgbClr val="993300"/>
                </a:solidFill>
              </a:rPr>
              <a:t>m</a:t>
            </a:r>
            <a:r>
              <a:rPr sz="2800" lang="en-US">
                <a:solidFill>
                  <a:srgbClr val="993300"/>
                </a:solidFill>
              </a:rPr>
              <a:t>i</a:t>
            </a:r>
            <a:r>
              <a:rPr sz="2800" lang="en-US">
                <a:solidFill>
                  <a:srgbClr val="993300"/>
                </a:solidFill>
              </a:rPr>
              <a:t>t</a:t>
            </a:r>
            <a:r>
              <a:rPr sz="2800" lang="en-US">
                <a:solidFill>
                  <a:srgbClr val="993300"/>
                </a:solidFill>
              </a:rPr>
              <a:t>t</a:t>
            </a:r>
            <a:r>
              <a:rPr sz="2800" lang="en-US">
                <a:solidFill>
                  <a:srgbClr val="993300"/>
                </a:solidFill>
              </a:rPr>
              <a:t>e</a:t>
            </a:r>
            <a:r>
              <a:rPr sz="2800" lang="en-US">
                <a:solidFill>
                  <a:srgbClr val="993300"/>
                </a:solidFill>
              </a:rPr>
              <a:t>d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b</a:t>
            </a:r>
            <a:r>
              <a:rPr sz="2800" lang="en-US">
                <a:solidFill>
                  <a:srgbClr val="993300"/>
                </a:solidFill>
              </a:rPr>
              <a:t>y</a:t>
            </a:r>
            <a:r>
              <a:rPr sz="2800" lang="en-US">
                <a:solidFill>
                  <a:srgbClr val="993300"/>
                </a:solidFill>
              </a:rPr>
              <a:t> </a:t>
            </a:r>
            <a:endParaRPr sz="2800" lang="en-US">
              <a:solidFill>
                <a:srgbClr val="993300"/>
              </a:solidFill>
            </a:endParaRPr>
          </a:p>
          <a:p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M</a:t>
            </a:r>
            <a:r>
              <a:rPr sz="2800" lang="en-US">
                <a:solidFill>
                  <a:srgbClr val="993300"/>
                </a:solidFill>
              </a:rPr>
              <a:t>A</a:t>
            </a:r>
            <a:r>
              <a:rPr sz="2800" lang="en-US">
                <a:solidFill>
                  <a:srgbClr val="993300"/>
                </a:solidFill>
              </a:rPr>
              <a:t>N</a:t>
            </a:r>
            <a:r>
              <a:rPr sz="2800" lang="en-US">
                <a:solidFill>
                  <a:srgbClr val="993300"/>
                </a:solidFill>
              </a:rPr>
              <a:t>U</a:t>
            </a:r>
            <a:r>
              <a:rPr sz="2800" lang="en-US">
                <a:solidFill>
                  <a:srgbClr val="993300"/>
                </a:solidFill>
              </a:rPr>
              <a:t>G</a:t>
            </a:r>
            <a:r>
              <a:rPr sz="2800" lang="en-US">
                <a:solidFill>
                  <a:srgbClr val="993300"/>
                </a:solidFill>
              </a:rPr>
              <a:t>O</a:t>
            </a:r>
            <a:r>
              <a:rPr sz="2800" lang="en-US">
                <a:solidFill>
                  <a:srgbClr val="993300"/>
                </a:solidFill>
              </a:rPr>
              <a:t>P</a:t>
            </a:r>
            <a:r>
              <a:rPr sz="2800" lang="en-US">
                <a:solidFill>
                  <a:srgbClr val="993300"/>
                </a:solidFill>
              </a:rPr>
              <a:t>A</a:t>
            </a:r>
            <a:r>
              <a:rPr sz="2800" lang="en-US">
                <a:solidFill>
                  <a:srgbClr val="993300"/>
                </a:solidFill>
              </a:rPr>
              <a:t>L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V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M</a:t>
            </a:r>
            <a:endParaRPr sz="2800" lang="en-US">
              <a:solidFill>
                <a:srgbClr val="993300"/>
              </a:solidFill>
            </a:endParaRPr>
          </a:p>
          <a:p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R</a:t>
            </a:r>
            <a:r>
              <a:rPr sz="2800" lang="en-US">
                <a:solidFill>
                  <a:srgbClr val="993300"/>
                </a:solidFill>
              </a:rPr>
              <a:t>O</a:t>
            </a:r>
            <a:r>
              <a:rPr sz="2800" lang="en-US">
                <a:solidFill>
                  <a:srgbClr val="993300"/>
                </a:solidFill>
              </a:rPr>
              <a:t>L</a:t>
            </a:r>
            <a:r>
              <a:rPr sz="2800" lang="en-US">
                <a:solidFill>
                  <a:srgbClr val="993300"/>
                </a:solidFill>
              </a:rPr>
              <a:t>L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N</a:t>
            </a:r>
            <a:r>
              <a:rPr sz="2800" lang="en-US">
                <a:solidFill>
                  <a:srgbClr val="993300"/>
                </a:solidFill>
              </a:rPr>
              <a:t>O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:</a:t>
            </a:r>
            <a:r>
              <a:rPr sz="2800" lang="en-US">
                <a:solidFill>
                  <a:srgbClr val="993300"/>
                </a:solidFill>
              </a:rPr>
              <a:t> </a:t>
            </a:r>
            <a:r>
              <a:rPr sz="2800" lang="en-US">
                <a:solidFill>
                  <a:srgbClr val="993300"/>
                </a:solidFill>
              </a:rPr>
              <a:t>3</a:t>
            </a:r>
            <a:r>
              <a:rPr sz="2800" lang="en-US">
                <a:solidFill>
                  <a:srgbClr val="993300"/>
                </a:solidFill>
              </a:rPr>
              <a:t>0</a:t>
            </a:r>
            <a:endParaRPr sz="2800" lang="en-US">
              <a:solidFill>
                <a:srgbClr val="9933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99"/>
        </a:solidFill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ctrTitle"/>
          </p:nvPr>
        </p:nvSpPr>
        <p:spPr>
          <a:xfrm>
            <a:off x="665870" y="1041400"/>
            <a:ext cx="10860259" cy="2387600"/>
          </a:xfrm>
        </p:spPr>
        <p:txBody>
          <a:bodyPr/>
          <a:p>
            <a:r>
              <a:rPr b="1" dirty="0" lang="en-US">
                <a:solidFill>
                  <a:schemeClr val="accent2">
                    <a:lumMod val="75000"/>
                  </a:schemeClr>
                </a:solidFill>
              </a:rPr>
              <a:t>Unit Testing and Integration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99"/>
        </a:solidFill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xfrm>
            <a:off x="838199" y="475126"/>
            <a:ext cx="10837985" cy="6221095"/>
          </a:xfrm>
        </p:spPr>
        <p:txBody>
          <a:bodyPr>
            <a:normAutofit/>
          </a:bodyPr>
          <a:p>
            <a:pPr indent="0" marL="0">
              <a:buNone/>
            </a:pPr>
            <a:r>
              <a:rPr b="1" dirty="0" sz="3200" lang="en-US">
                <a:solidFill>
                  <a:srgbClr val="FF0000"/>
                </a:solidFill>
              </a:rPr>
              <a:t>Unit Testing </a:t>
            </a:r>
            <a:endParaRPr dirty="0" sz="3200" lang="en-US">
              <a:solidFill>
                <a:srgbClr val="FF0000"/>
              </a:solidFill>
            </a:endParaRPr>
          </a:p>
          <a:p>
            <a:r>
              <a:rPr dirty="0" lang="en-US">
                <a:solidFill>
                  <a:schemeClr val="accent1">
                    <a:lumMod val="75000"/>
                  </a:schemeClr>
                </a:solidFill>
              </a:rPr>
              <a:t>Concentrates on each component/function of the software as implemented in the source code </a:t>
            </a:r>
          </a:p>
          <a:p>
            <a:r>
              <a:rPr dirty="0" lang="en-US">
                <a:solidFill>
                  <a:schemeClr val="accent1">
                    <a:lumMod val="75000"/>
                  </a:schemeClr>
                </a:solidFill>
              </a:rPr>
              <a:t>Is simplified when a module is designed </a:t>
            </a:r>
          </a:p>
          <a:p>
            <a:pPr indent="0" marL="0">
              <a:buNone/>
            </a:pPr>
            <a:r>
              <a:rPr dirty="0" lang="en-US">
                <a:solidFill>
                  <a:schemeClr val="accent1">
                    <a:lumMod val="75000"/>
                  </a:schemeClr>
                </a:solidFill>
              </a:rPr>
              <a:t>   with high cohesion </a:t>
            </a:r>
          </a:p>
          <a:p>
            <a:r>
              <a:rPr dirty="0" lang="en-US">
                <a:solidFill>
                  <a:schemeClr val="accent1">
                    <a:lumMod val="75000"/>
                  </a:schemeClr>
                </a:solidFill>
              </a:rPr>
              <a:t>Makes heavy use of testing techniques </a:t>
            </a:r>
          </a:p>
          <a:p>
            <a:pPr indent="0" marL="0">
              <a:buNone/>
            </a:pPr>
            <a:r>
              <a:rPr dirty="0" lang="en-US">
                <a:solidFill>
                  <a:schemeClr val="accent1">
                    <a:lumMod val="75000"/>
                  </a:schemeClr>
                </a:solidFill>
              </a:rPr>
              <a:t>   that exercise specific paths in a </a:t>
            </a:r>
          </a:p>
          <a:p>
            <a:pPr indent="0" marL="0">
              <a:buNone/>
            </a:pPr>
            <a:r>
              <a:rPr dirty="0" lang="en-US">
                <a:solidFill>
                  <a:schemeClr val="accent1">
                    <a:lumMod val="75000"/>
                  </a:schemeClr>
                </a:solidFill>
              </a:rPr>
              <a:t>   component‘s control structure to ensure </a:t>
            </a:r>
          </a:p>
          <a:p>
            <a:pPr indent="0" marL="0">
              <a:buNone/>
            </a:pPr>
            <a:r>
              <a:rPr dirty="0" lang="en-US">
                <a:solidFill>
                  <a:schemeClr val="accent1">
                    <a:lumMod val="75000"/>
                  </a:schemeClr>
                </a:solidFill>
              </a:rPr>
              <a:t>   complete coverage and maximum error </a:t>
            </a:r>
          </a:p>
          <a:p>
            <a:pPr indent="0" marL="0">
              <a:buNone/>
            </a:pPr>
            <a:r>
              <a:rPr dirty="0" lang="en-US">
                <a:solidFill>
                  <a:schemeClr val="accent1">
                    <a:lumMod val="75000"/>
                  </a:schemeClr>
                </a:solidFill>
              </a:rPr>
              <a:t>   detection</a:t>
            </a:r>
          </a:p>
          <a:p>
            <a:r>
              <a:rPr dirty="0" lang="en-US">
                <a:solidFill>
                  <a:schemeClr val="accent1">
                    <a:lumMod val="75000"/>
                  </a:schemeClr>
                </a:solidFill>
              </a:rPr>
              <a:t>Allows errors to be more easily predicted and uncovered         </a:t>
            </a:r>
          </a:p>
          <a:p>
            <a:endParaRPr dirty="0" lang="en-US">
              <a:solidFill>
                <a:schemeClr val="accent1">
                  <a:lumMod val="75000"/>
                </a:schemeClr>
              </a:solidFill>
            </a:endParaRPr>
          </a:p>
          <a:p>
            <a:pPr indent="0" marL="0">
              <a:buNone/>
            </a:pPr>
            <a:endParaRPr dirty="0" sz="2000" lang="en-US">
              <a:solidFill>
                <a:srgbClr val="FF0000"/>
              </a:solidFill>
            </a:endParaRPr>
          </a:p>
          <a:p>
            <a:endParaRPr dirty="0" lang="en-US">
              <a:solidFill>
                <a:srgbClr val="FF0000"/>
              </a:solidFill>
            </a:endParaRPr>
          </a:p>
        </p:txBody>
      </p:sp>
      <p:pic>
        <p:nvPicPr>
          <p:cNvPr id="2097152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526214" y="2008163"/>
            <a:ext cx="3982331" cy="2841674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99"/>
        </a:solidFill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Content Placeholder 2"/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/>
          <a:p>
            <a:pPr indent="0" marL="0">
              <a:buNone/>
            </a:pPr>
            <a:r>
              <a:rPr b="1" dirty="0" sz="3200" lang="en-US">
                <a:solidFill>
                  <a:srgbClr val="FF0000"/>
                </a:solidFill>
              </a:rPr>
              <a:t>Integration Testing </a:t>
            </a:r>
          </a:p>
          <a:p>
            <a:r>
              <a:rPr dirty="0" lang="en-US">
                <a:solidFill>
                  <a:schemeClr val="accent1">
                    <a:lumMod val="75000"/>
                  </a:schemeClr>
                </a:solidFill>
              </a:rPr>
              <a:t>When  Components are integrated</a:t>
            </a:r>
          </a:p>
          <a:p>
            <a:r>
              <a:rPr dirty="0" lang="en-US">
                <a:solidFill>
                  <a:schemeClr val="accent1">
                    <a:lumMod val="75000"/>
                  </a:schemeClr>
                </a:solidFill>
              </a:rPr>
              <a:t>Focuses on the design and construction of the software </a:t>
            </a:r>
          </a:p>
          <a:p>
            <a:pPr indent="0" marL="0">
              <a:buNone/>
            </a:pPr>
            <a:r>
              <a:rPr dirty="0" lang="en-US">
                <a:solidFill>
                  <a:schemeClr val="accent1">
                    <a:lumMod val="75000"/>
                  </a:schemeClr>
                </a:solidFill>
              </a:rPr>
              <a:t>    architecture </a:t>
            </a:r>
          </a:p>
          <a:p>
            <a:r>
              <a:rPr dirty="0" lang="en-US">
                <a:solidFill>
                  <a:schemeClr val="accent1">
                    <a:lumMod val="75000"/>
                  </a:schemeClr>
                </a:solidFill>
              </a:rPr>
              <a:t>Focuses on inputs and outputs, and how well the components fit together and work together </a:t>
            </a:r>
          </a:p>
          <a:p>
            <a:endParaRPr dirty="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21587878">
            <a:off x="-9008" y="-7669"/>
            <a:ext cx="12287228" cy="6870050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1048654" name="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209715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-150091" y="45572"/>
            <a:ext cx="12330545" cy="6856738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1048656" name="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2097155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-242455" y="-92154"/>
            <a:ext cx="12421187" cy="6917971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1048658" name="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2097156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-49651" y="112"/>
            <a:ext cx="12311855" cy="6846345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Unit Testing and Integration Testing</dc:title>
  <dc:creator>hp</dc:creator>
  <cp:lastModifiedBy>hp</cp:lastModifiedBy>
  <dcterms:created xsi:type="dcterms:W3CDTF">2020-05-09T16:17:10Z</dcterms:created>
  <dcterms:modified xsi:type="dcterms:W3CDTF">2021-06-08T08:07:53Z</dcterms:modified>
</cp:coreProperties>
</file>